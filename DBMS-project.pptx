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3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39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placeholders (team names, roll numbers, guide, college) are samples — replace with actual project details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solidFill>
            <a:srgbClr val="0F4C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280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81360" y="4480560"/>
            <a:ext cx="2743200" cy="27432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34669" y="123906"/>
            <a:ext cx="2613727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DBMS- MINI PROJECT</a:t>
            </a:r>
          </a:p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7688" y="859998"/>
            <a:ext cx="7606949" cy="111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40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Campus Maintenance And Complaint Management System</a:t>
            </a:r>
            <a:endParaRPr lang="en-US" sz="8000" dirty="0">
              <a:solidFill>
                <a:srgbClr val="FFC000"/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3800" dirty="0">
              <a:solidFill>
                <a:srgbClr val="FFC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954338" y="2082950"/>
            <a:ext cx="5315142" cy="54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Digital Platform for Campus Issue Reporting &amp;  Maintenance</a:t>
            </a:r>
            <a:endParaRPr lang="en-US" sz="2000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988552" y="1197864"/>
            <a:ext cx="1371600" cy="1371600"/>
          </a:xfrm>
          <a:prstGeom prst="ellipse">
            <a:avLst/>
          </a:prstGeom>
          <a:solidFill>
            <a:srgbClr val="1280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0" descr="icons/camp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130" y="1543050"/>
            <a:ext cx="754380" cy="7543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378440" y="2148840"/>
            <a:ext cx="960120" cy="960120"/>
          </a:xfrm>
          <a:prstGeom prst="ellipse">
            <a:avLst/>
          </a:prstGeom>
          <a:solidFill>
            <a:srgbClr val="1FA97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icons/to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4467" y="2364867"/>
            <a:ext cx="528066" cy="52806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052560" y="2880360"/>
            <a:ext cx="868680" cy="868680"/>
          </a:xfrm>
          <a:prstGeom prst="ellipse">
            <a:avLst/>
          </a:prstGeom>
          <a:solidFill>
            <a:srgbClr val="0F4C6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2" descr="icons/compla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013" y="3075813"/>
            <a:ext cx="477774" cy="47777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0195560" y="502920"/>
            <a:ext cx="731520" cy="731520"/>
          </a:xfrm>
          <a:prstGeom prst="ellipse">
            <a:avLst/>
          </a:prstGeom>
          <a:solidFill>
            <a:srgbClr val="0F4C6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3" descr="icons/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667512"/>
            <a:ext cx="402336" cy="40233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77315" y="2648331"/>
            <a:ext cx="8076287" cy="3291840"/>
          </a:xfrm>
          <a:prstGeom prst="roundRect">
            <a:avLst>
              <a:gd name="adj" fmla="val 10636"/>
            </a:avLst>
          </a:prstGeom>
          <a:solidFill>
            <a:srgbClr val="0E4763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17" name="Text 11"/>
          <p:cNvSpPr/>
          <p:nvPr/>
        </p:nvSpPr>
        <p:spPr>
          <a:xfrm>
            <a:off x="777240" y="3807372"/>
            <a:ext cx="3200400" cy="215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solidFill>
                <a:srgbClr val="FFFFFF"/>
              </a:solidFill>
            </a:endParaRPr>
          </a:p>
          <a:p>
            <a:endParaRPr lang="en-US" sz="1600" dirty="0">
              <a:solidFill>
                <a:srgbClr val="FFFFFF"/>
              </a:solidFill>
            </a:endParaRPr>
          </a:p>
          <a:p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b="1" dirty="0">
                <a:solidFill>
                  <a:schemeClr val="accent6"/>
                </a:solidFill>
              </a:rPr>
              <a:t>TEAM</a:t>
            </a:r>
            <a:r>
              <a:rPr lang="en-US" sz="1600" b="1" dirty="0">
                <a:solidFill>
                  <a:srgbClr val="FFFFFF"/>
                </a:solidFill>
              </a:rPr>
              <a:t> </a:t>
            </a:r>
            <a:r>
              <a:rPr lang="en-US" sz="1600" b="1" dirty="0">
                <a:solidFill>
                  <a:schemeClr val="accent6"/>
                </a:solidFill>
              </a:rPr>
              <a:t>MEMBERS</a:t>
            </a:r>
            <a:endParaRPr lang="en-US" sz="1600" b="1" dirty="0">
              <a:solidFill>
                <a:srgbClr val="FFFFFF"/>
              </a:solidFill>
            </a:endParaRPr>
          </a:p>
          <a:p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</a:rPr>
              <a:t>Shloka Sree - 2510030220</a:t>
            </a:r>
          </a:p>
          <a:p>
            <a:pPr marL="0" indent="0">
              <a:buNone/>
            </a:pP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</a:rPr>
              <a:t>Niteeksha - 2510030145</a:t>
            </a:r>
          </a:p>
          <a:p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</a:rPr>
              <a:t>Harshitha - 2510030212</a:t>
            </a:r>
          </a:p>
          <a:p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</a:rPr>
              <a:t>Siri Chandana - 2510030234</a:t>
            </a:r>
          </a:p>
          <a:p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</a:rPr>
              <a:t>Anvitha Reddy - 2510030026</a:t>
            </a:r>
          </a:p>
          <a:p>
            <a:endParaRPr lang="en-US" sz="1600" dirty="0">
              <a:solidFill>
                <a:srgbClr val="FFFFFF"/>
              </a:solidFill>
            </a:endParaRPr>
          </a:p>
          <a:p>
            <a:endParaRPr sz="1600" dirty="0">
              <a:solidFill>
                <a:srgbClr val="FFFFFF"/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868680" y="404164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16052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sz="1600" dirty="0">
              <a:solidFill>
                <a:srgbClr val="FFFFFF"/>
              </a:solidFill>
            </a:endParaRPr>
          </a:p>
        </p:txBody>
      </p:sp>
      <p:sp>
        <p:nvSpPr>
          <p:cNvPr id="20" name="Text 14"/>
          <p:cNvSpPr/>
          <p:nvPr/>
        </p:nvSpPr>
        <p:spPr>
          <a:xfrm>
            <a:off x="4160520" y="404164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481720" y="3121572"/>
            <a:ext cx="1473560" cy="23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>
              <a:solidFill>
                <a:schemeClr val="accent6"/>
              </a:solidFill>
            </a:endParaRPr>
          </a:p>
        </p:txBody>
      </p:sp>
      <p:sp>
        <p:nvSpPr>
          <p:cNvPr id="22" name="Text 16"/>
          <p:cNvSpPr/>
          <p:nvPr/>
        </p:nvSpPr>
        <p:spPr>
          <a:xfrm>
            <a:off x="3657600" y="2966545"/>
            <a:ext cx="4977037" cy="587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</a:t>
            </a:r>
            <a:endParaRPr lang="en-US" sz="1050" dirty="0">
              <a:solidFill>
                <a:schemeClr val="accent6"/>
              </a:solidFill>
            </a:endParaRPr>
          </a:p>
          <a:p>
            <a:r>
              <a:rPr sz="1600" dirty="0">
                <a:solidFill>
                  <a:srgbClr val="FFFFFF"/>
                </a:solidFill>
              </a:rPr>
              <a:t>Dr. P. Lalitha Surya Kumari</a:t>
            </a:r>
          </a:p>
        </p:txBody>
      </p:sp>
      <p:sp>
        <p:nvSpPr>
          <p:cNvPr id="23" name="Text 17"/>
          <p:cNvSpPr/>
          <p:nvPr/>
        </p:nvSpPr>
        <p:spPr>
          <a:xfrm>
            <a:off x="7452360" y="4828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>
              <a:solidFill>
                <a:schemeClr val="accent6"/>
              </a:solidFill>
            </a:endParaRPr>
          </a:p>
        </p:txBody>
      </p:sp>
      <p:sp>
        <p:nvSpPr>
          <p:cNvPr id="24" name="Text 18"/>
          <p:cNvSpPr/>
          <p:nvPr/>
        </p:nvSpPr>
        <p:spPr>
          <a:xfrm>
            <a:off x="6903720" y="5102352"/>
            <a:ext cx="3840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868680" y="5349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3544312" y="4158599"/>
            <a:ext cx="2937408" cy="261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DEPARTMENT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Computer Science Engineering</a:t>
            </a:r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2026-2027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campus maintenance needs a digital system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colleges still handle maintenance complaints manually — through paper registers, phone calls, or WhatsApp — causing delays, lost complaints, and no way to track progress.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95628" y="2697480"/>
            <a:ext cx="512064" cy="512064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8" name="Image 0" descr="icons/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161" y="2805013"/>
            <a:ext cx="296997" cy="2969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3383280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 registers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9272" y="251460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66260" y="2697480"/>
            <a:ext cx="512064" cy="512064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12" name="Image 1" descr="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3793" y="2805013"/>
            <a:ext cx="296997" cy="29699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3383280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get delayed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9904" y="251460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6892" y="2697480"/>
            <a:ext cx="512064" cy="512064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16" name="Image 2" descr="icons/lo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4425" y="2805013"/>
            <a:ext cx="296997" cy="29699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9632" y="3383280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are forgotten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860536" y="251460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907524" y="2697480"/>
            <a:ext cx="512064" cy="512064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20" name="Image 3" descr="icons/nostat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5057" y="2805013"/>
            <a:ext cx="296997" cy="2969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70264" y="3383280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status tracking for students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315968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595628" y="4498848"/>
            <a:ext cx="512064" cy="512064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24" name="Image 4" descr="icons/nocom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3161" y="4606381"/>
            <a:ext cx="296997" cy="29699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58368" y="5184648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student–staff communication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3319272" y="4315968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366260" y="4498848"/>
            <a:ext cx="512064" cy="512064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28" name="Image 5" descr="icons/nomoni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3793" y="4606381"/>
            <a:ext cx="296997" cy="29699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429000" y="5184648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progress monitoring for admins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089904" y="4315968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7136892" y="4498848"/>
            <a:ext cx="512064" cy="512064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32" name="Image 6" descr="icons/nod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4425" y="4606381"/>
            <a:ext cx="296997" cy="296997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199632" y="5184648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complaint database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8915400" y="2514600"/>
            <a:ext cx="2697480" cy="3401568"/>
          </a:xfrm>
          <a:prstGeom prst="roundRect">
            <a:avLst>
              <a:gd name="adj" fmla="val 3051"/>
            </a:avLst>
          </a:prstGeom>
          <a:solidFill>
            <a:srgbClr val="12805C"/>
          </a:solidFill>
          <a:ln/>
        </p:spPr>
      </p:sp>
      <p:sp>
        <p:nvSpPr>
          <p:cNvPr id="35" name="Text 26"/>
          <p:cNvSpPr/>
          <p:nvPr/>
        </p:nvSpPr>
        <p:spPr>
          <a:xfrm>
            <a:off x="909828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9098280" y="30632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digital system for easy complaint registration, real-time tracking, maintenance management, and reporting — backed by one shared database.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Maintenance &amp; Complaint Management System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aims to achieve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63" y="1828983"/>
            <a:ext cx="328818" cy="3288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048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Platform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27432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all campus complaints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9272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709928"/>
            <a:ext cx="566928" cy="566928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11" name="Image 1" descr="icons/userp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495" y="1828983"/>
            <a:ext cx="328818" cy="3288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3864" y="24048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Registration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83864" y="27432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faculty log complaints online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9904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1709928"/>
            <a:ext cx="566928" cy="56692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icons/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127" y="1828983"/>
            <a:ext cx="328818" cy="3288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24048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54496" y="27432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images with each complaint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60536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61704" y="1709928"/>
            <a:ext cx="566928" cy="566928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21" name="Image 3" descr="icons/tr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759" y="1828983"/>
            <a:ext cx="328818" cy="3288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25128" y="24048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025128" y="27432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complaint status updates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7033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904488"/>
            <a:ext cx="566928" cy="56692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6" name="Image 4" descr="icons/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863" y="4023543"/>
            <a:ext cx="328818" cy="3288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" y="459943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13232" y="493776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every status change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19272" y="37033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20440" y="3904488"/>
            <a:ext cx="566928" cy="566928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31" name="Image 5" descr="icons/assig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9495" y="4023543"/>
            <a:ext cx="328818" cy="3288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83864" y="459943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Assignment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483864" y="493776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complaints to maintenance staff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089904" y="37033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91072" y="3904488"/>
            <a:ext cx="566928" cy="56692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36" name="Image 6" descr="icons/repo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127" y="4023543"/>
            <a:ext cx="328818" cy="32881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54496" y="459943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Reports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254496" y="493776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analytics for administrators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860536" y="37033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061704" y="3904488"/>
            <a:ext cx="566928" cy="566928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41" name="Image 7" descr="icons/secu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0759" y="4023543"/>
            <a:ext cx="328818" cy="32881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25128" y="459943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Database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9025128" y="493776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stored safely in MySQL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Maintenance &amp; Complaint Management System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 powering the system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39696" cy="470916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139696" cy="502920"/>
          </a:xfrm>
          <a:prstGeom prst="roundRect">
            <a:avLst>
              <a:gd name="adj" fmla="val 18182"/>
            </a:avLst>
          </a:prstGeom>
          <a:solidFill>
            <a:srgbClr val="0B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64792"/>
            <a:ext cx="2139696" cy="24688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0876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pic>
        <p:nvPicPr>
          <p:cNvPr id="8" name="Image 0" descr="icon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19456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14884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00" dirty="0"/>
          </a:p>
        </p:txBody>
      </p:sp>
      <p:pic>
        <p:nvPicPr>
          <p:cNvPr id="10" name="Image 1" descr="icons/ht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8529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807208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pic>
        <p:nvPicPr>
          <p:cNvPr id="12" name="Image 2" descr="icons/c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511296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465576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pic>
        <p:nvPicPr>
          <p:cNvPr id="14" name="Image 3" descr="icons/j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169664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4123944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2834640" y="1508760"/>
            <a:ext cx="2139696" cy="470916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2834640" y="1508760"/>
            <a:ext cx="2139696" cy="502920"/>
          </a:xfrm>
          <a:prstGeom prst="roundRect">
            <a:avLst>
              <a:gd name="adj" fmla="val 18182"/>
            </a:avLst>
          </a:prstGeom>
          <a:solidFill>
            <a:srgbClr val="12805C"/>
          </a:solidFill>
          <a:ln/>
        </p:spPr>
      </p:sp>
      <p:sp>
        <p:nvSpPr>
          <p:cNvPr id="18" name="Shape 12"/>
          <p:cNvSpPr/>
          <p:nvPr/>
        </p:nvSpPr>
        <p:spPr>
          <a:xfrm>
            <a:off x="2834640" y="1764792"/>
            <a:ext cx="2139696" cy="246888"/>
          </a:xfrm>
          <a:prstGeom prst="rect">
            <a:avLst/>
          </a:prstGeom>
          <a:solidFill>
            <a:srgbClr val="12805C"/>
          </a:solidFill>
          <a:ln/>
        </p:spPr>
      </p:sp>
      <p:sp>
        <p:nvSpPr>
          <p:cNvPr id="19" name="Text 13"/>
          <p:cNvSpPr/>
          <p:nvPr/>
        </p:nvSpPr>
        <p:spPr>
          <a:xfrm>
            <a:off x="2907792" y="150876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pic>
        <p:nvPicPr>
          <p:cNvPr id="20" name="Image 4" descr="icons/n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0944" y="2194560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383280" y="214884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pic>
        <p:nvPicPr>
          <p:cNvPr id="22" name="Image 5" descr="icons/expre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0944" y="2852928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383280" y="2807208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5120640" y="1508760"/>
            <a:ext cx="2139696" cy="470916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6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5120640" y="1508760"/>
            <a:ext cx="2139696" cy="502920"/>
          </a:xfrm>
          <a:prstGeom prst="roundRect">
            <a:avLst>
              <a:gd name="adj" fmla="val 18182"/>
            </a:avLst>
          </a:prstGeom>
          <a:solidFill>
            <a:srgbClr val="0B3D5C"/>
          </a:solidFill>
          <a:ln/>
        </p:spPr>
      </p:sp>
      <p:sp>
        <p:nvSpPr>
          <p:cNvPr id="26" name="Shape 18"/>
          <p:cNvSpPr/>
          <p:nvPr/>
        </p:nvSpPr>
        <p:spPr>
          <a:xfrm>
            <a:off x="5120640" y="1764792"/>
            <a:ext cx="2139696" cy="24688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27" name="Text 19"/>
          <p:cNvSpPr/>
          <p:nvPr/>
        </p:nvSpPr>
        <p:spPr>
          <a:xfrm>
            <a:off x="5193792" y="150876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pic>
        <p:nvPicPr>
          <p:cNvPr id="28" name="Image 6" descr="icons/mysq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6944" y="2194560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669280" y="214884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7406640" y="1508760"/>
            <a:ext cx="2139696" cy="470916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7406640" y="1508760"/>
            <a:ext cx="2139696" cy="502920"/>
          </a:xfrm>
          <a:prstGeom prst="roundRect">
            <a:avLst>
              <a:gd name="adj" fmla="val 18182"/>
            </a:avLst>
          </a:prstGeom>
          <a:solidFill>
            <a:srgbClr val="12805C"/>
          </a:solidFill>
          <a:ln/>
        </p:spPr>
      </p:sp>
      <p:sp>
        <p:nvSpPr>
          <p:cNvPr id="32" name="Shape 23"/>
          <p:cNvSpPr/>
          <p:nvPr/>
        </p:nvSpPr>
        <p:spPr>
          <a:xfrm>
            <a:off x="7406640" y="1764792"/>
            <a:ext cx="2139696" cy="246888"/>
          </a:xfrm>
          <a:prstGeom prst="rect">
            <a:avLst/>
          </a:prstGeom>
          <a:solidFill>
            <a:srgbClr val="12805C"/>
          </a:solidFill>
          <a:ln/>
        </p:spPr>
      </p:sp>
      <p:sp>
        <p:nvSpPr>
          <p:cNvPr id="33" name="Text 24"/>
          <p:cNvSpPr/>
          <p:nvPr/>
        </p:nvSpPr>
        <p:spPr>
          <a:xfrm>
            <a:off x="7479792" y="150876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200" dirty="0"/>
          </a:p>
        </p:txBody>
      </p:sp>
      <p:pic>
        <p:nvPicPr>
          <p:cNvPr id="34" name="Image 7" descr="icons/vscod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2944" y="2194560"/>
            <a:ext cx="329184" cy="32918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955280" y="214884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00" dirty="0"/>
          </a:p>
        </p:txBody>
      </p:sp>
      <p:pic>
        <p:nvPicPr>
          <p:cNvPr id="36" name="Image 8" descr="icons/githu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2944" y="2852928"/>
            <a:ext cx="329184" cy="32918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955280" y="2807208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pic>
        <p:nvPicPr>
          <p:cNvPr id="38" name="Image 9" descr="icons/postma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2944" y="3511296"/>
            <a:ext cx="329184" cy="32918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955280" y="3465576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9692640" y="1508760"/>
            <a:ext cx="2139696" cy="470916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6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9692640" y="1508760"/>
            <a:ext cx="2139696" cy="502920"/>
          </a:xfrm>
          <a:prstGeom prst="roundRect">
            <a:avLst>
              <a:gd name="adj" fmla="val 18182"/>
            </a:avLst>
          </a:prstGeom>
          <a:solidFill>
            <a:srgbClr val="0B3D5C"/>
          </a:solidFill>
          <a:ln/>
        </p:spPr>
      </p:sp>
      <p:sp>
        <p:nvSpPr>
          <p:cNvPr id="42" name="Shape 30"/>
          <p:cNvSpPr/>
          <p:nvPr/>
        </p:nvSpPr>
        <p:spPr>
          <a:xfrm>
            <a:off x="9692640" y="1764792"/>
            <a:ext cx="2139696" cy="24688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43" name="Text 31"/>
          <p:cNvSpPr/>
          <p:nvPr/>
        </p:nvSpPr>
        <p:spPr>
          <a:xfrm>
            <a:off x="9765792" y="150876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</a:t>
            </a:r>
            <a:endParaRPr lang="en-US" sz="1200" dirty="0"/>
          </a:p>
        </p:txBody>
      </p:sp>
      <p:pic>
        <p:nvPicPr>
          <p:cNvPr id="44" name="Image 10" descr="icons/emai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38944" y="2194560"/>
            <a:ext cx="329184" cy="329184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10241280" y="214884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API</a:t>
            </a:r>
            <a:endParaRPr lang="en-US" sz="1000" dirty="0"/>
          </a:p>
        </p:txBody>
      </p:sp>
      <p:pic>
        <p:nvPicPr>
          <p:cNvPr id="46" name="Image 11" descr="icons/clou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38944" y="2852928"/>
            <a:ext cx="329184" cy="329184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10241280" y="2807208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(Image Upload)</a:t>
            </a:r>
            <a:endParaRPr lang="en-US" sz="1000" dirty="0"/>
          </a:p>
        </p:txBody>
      </p:sp>
      <p:pic>
        <p:nvPicPr>
          <p:cNvPr id="48" name="Image 12" descr="icons/qrcod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38944" y="3511296"/>
            <a:ext cx="329184" cy="329184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10241280" y="3465576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for Complaint ID</a:t>
            </a:r>
            <a:endParaRPr lang="en-US" sz="1000" dirty="0"/>
          </a:p>
        </p:txBody>
      </p:sp>
      <p:sp>
        <p:nvSpPr>
          <p:cNvPr id="50" name="Text 35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Maintenance &amp; Complaint Management System</a:t>
            </a:r>
            <a:endParaRPr lang="en-US" sz="900" dirty="0"/>
          </a:p>
        </p:txBody>
      </p:sp>
      <p:sp>
        <p:nvSpPr>
          <p:cNvPr id="51" name="Text 36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 to every stakeholder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icons/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56" y="1862176"/>
            <a:ext cx="344729" cy="3447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64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complaint submission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status tracking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maintenance service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updates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737360"/>
            <a:ext cx="594360" cy="594360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11" name="Image 1" descr="icons/to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096" y="1862176"/>
            <a:ext cx="344729" cy="3447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764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Maintenance Staff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25603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complaint management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task assignment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issue resolution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  <a:effectLst>
            <a:outerShdw blurRad="76200" dist="25400" dir="5400000" algn="bl" rotWithShape="0">
              <a:srgbClr val="1E5F7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737360"/>
            <a:ext cx="594360" cy="5943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icons/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136" y="1862176"/>
            <a:ext cx="344729" cy="3447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764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Administrators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25603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dashboard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monitoring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reports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B3D5C"/>
          </a:solidFill>
          <a:ln/>
        </p:spPr>
      </p:sp>
      <p:pic>
        <p:nvPicPr>
          <p:cNvPr id="20" name="Image 3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70432" y="5120640"/>
            <a:ext cx="20345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response time</a:t>
            </a:r>
            <a:endParaRPr lang="en-US" sz="1150" dirty="0"/>
          </a:p>
        </p:txBody>
      </p:sp>
      <p:pic>
        <p:nvPicPr>
          <p:cNvPr id="22" name="Image 4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537667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36492" y="5120640"/>
            <a:ext cx="20345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communication</a:t>
            </a:r>
            <a:endParaRPr lang="en-US" sz="1150" dirty="0"/>
          </a:p>
        </p:txBody>
      </p:sp>
      <p:pic>
        <p:nvPicPr>
          <p:cNvPr id="24" name="Image 5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5376672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02552" y="5120640"/>
            <a:ext cx="20345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infrastructure</a:t>
            </a:r>
            <a:endParaRPr lang="en-US" sz="1150" dirty="0"/>
          </a:p>
        </p:txBody>
      </p:sp>
      <p:pic>
        <p:nvPicPr>
          <p:cNvPr id="26" name="Image 6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5420" y="5376672"/>
            <a:ext cx="310896" cy="31089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468612" y="5120640"/>
            <a:ext cx="20345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paperwork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Maintenance &amp; Complaint Management System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 &amp; Workflow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271016"/>
            <a:ext cx="512064" cy="512064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5" name="Image 0" descr="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89" y="1378549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161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298448" y="14721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submit &amp; track complaints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931920" y="10515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59936" y="1271016"/>
            <a:ext cx="512064" cy="512064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10" name="Image 1" descr="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469" y="1378549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81728" y="1161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Module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681728" y="14721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categorize &amp; upload images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48640" y="2130552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76656" y="2350008"/>
            <a:ext cx="512064" cy="512064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5" name="Image 2" descr="icons/wr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189" y="2457541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8448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Module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298448" y="25511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update &amp; resolve complaints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3931920" y="2130552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059936" y="2350008"/>
            <a:ext cx="512064" cy="512064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20" name="Image 3" descr="icons/bell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7469" y="2457541"/>
            <a:ext cx="296997" cy="2969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81728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Module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681728" y="25511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status alerts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548640" y="3209544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76656" y="3429000"/>
            <a:ext cx="512064" cy="512064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5" name="Image 4" descr="icons/chartbar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189" y="3536533"/>
            <a:ext cx="296997" cy="29699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98448" y="3319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Module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1298448" y="3630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monthly &amp; department reports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3931920" y="3209544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059936" y="3429000"/>
            <a:ext cx="512064" cy="512064"/>
          </a:xfrm>
          <a:prstGeom prst="ellipse">
            <a:avLst/>
          </a:prstGeom>
          <a:solidFill>
            <a:srgbClr val="12805C"/>
          </a:solidFill>
          <a:ln/>
        </p:spPr>
      </p:sp>
      <p:pic>
        <p:nvPicPr>
          <p:cNvPr id="30" name="Image 5" descr="icons/usershield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7469" y="3536533"/>
            <a:ext cx="296997" cy="29699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681728" y="3319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681728" y="3630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categories &amp; dashboard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7360920" y="1051560"/>
            <a:ext cx="4251960" cy="4709160"/>
          </a:xfrm>
          <a:prstGeom prst="roundRect">
            <a:avLst>
              <a:gd name="adj" fmla="val 2151"/>
            </a:avLst>
          </a:prstGeom>
          <a:solidFill>
            <a:srgbClr val="0B3D5C"/>
          </a:solidFill>
          <a:ln/>
        </p:spPr>
      </p:sp>
      <p:sp>
        <p:nvSpPr>
          <p:cNvPr id="34" name="Text 26"/>
          <p:cNvSpPr/>
          <p:nvPr/>
        </p:nvSpPr>
        <p:spPr>
          <a:xfrm>
            <a:off x="7589520" y="11887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Workflow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7589520" y="1572768"/>
            <a:ext cx="3429000" cy="402336"/>
          </a:xfrm>
          <a:prstGeom prst="roundRect">
            <a:avLst>
              <a:gd name="adj" fmla="val 56818"/>
            </a:avLst>
          </a:prstGeom>
          <a:solidFill>
            <a:srgbClr val="12587B"/>
          </a:solidFill>
          <a:ln/>
        </p:spPr>
      </p:sp>
      <p:sp>
        <p:nvSpPr>
          <p:cNvPr id="36" name="Text 28"/>
          <p:cNvSpPr/>
          <p:nvPr/>
        </p:nvSpPr>
        <p:spPr>
          <a:xfrm>
            <a:off x="7653528" y="1572768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7955280" y="1572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Complaint</a:t>
            </a:r>
            <a:endParaRPr lang="en-US" sz="1030" dirty="0"/>
          </a:p>
        </p:txBody>
      </p:sp>
      <p:pic>
        <p:nvPicPr>
          <p:cNvPr id="38" name="Image 6" descr="icons/arrowdow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0" y="1956816"/>
            <a:ext cx="164592" cy="164592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7589520" y="2057400"/>
            <a:ext cx="3429000" cy="402336"/>
          </a:xfrm>
          <a:prstGeom prst="roundRect">
            <a:avLst>
              <a:gd name="adj" fmla="val 56818"/>
            </a:avLst>
          </a:prstGeom>
          <a:solidFill>
            <a:srgbClr val="12587B"/>
          </a:solidFill>
          <a:ln/>
        </p:spPr>
      </p:sp>
      <p:sp>
        <p:nvSpPr>
          <p:cNvPr id="40" name="Text 31"/>
          <p:cNvSpPr/>
          <p:nvPr/>
        </p:nvSpPr>
        <p:spPr>
          <a:xfrm>
            <a:off x="7653528" y="205740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7955280" y="20574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Verification</a:t>
            </a:r>
            <a:endParaRPr lang="en-US" sz="1030" dirty="0"/>
          </a:p>
        </p:txBody>
      </p:sp>
      <p:pic>
        <p:nvPicPr>
          <p:cNvPr id="42" name="Image 7" descr="icons/arrowdow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0" y="2441448"/>
            <a:ext cx="164592" cy="164592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7589520" y="2542032"/>
            <a:ext cx="3429000" cy="402336"/>
          </a:xfrm>
          <a:prstGeom prst="roundRect">
            <a:avLst>
              <a:gd name="adj" fmla="val 56818"/>
            </a:avLst>
          </a:prstGeom>
          <a:solidFill>
            <a:srgbClr val="12587B"/>
          </a:solidFill>
          <a:ln/>
        </p:spPr>
      </p:sp>
      <p:sp>
        <p:nvSpPr>
          <p:cNvPr id="44" name="Text 34"/>
          <p:cNvSpPr/>
          <p:nvPr/>
        </p:nvSpPr>
        <p:spPr>
          <a:xfrm>
            <a:off x="7653528" y="254203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7955280" y="25420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Assignment</a:t>
            </a:r>
            <a:endParaRPr lang="en-US" sz="1030" dirty="0"/>
          </a:p>
        </p:txBody>
      </p:sp>
      <p:pic>
        <p:nvPicPr>
          <p:cNvPr id="46" name="Image 8" descr="icons/arrowdow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0" y="2926080"/>
            <a:ext cx="164592" cy="164592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7589520" y="3026664"/>
            <a:ext cx="3429000" cy="402336"/>
          </a:xfrm>
          <a:prstGeom prst="roundRect">
            <a:avLst>
              <a:gd name="adj" fmla="val 56818"/>
            </a:avLst>
          </a:prstGeom>
          <a:solidFill>
            <a:srgbClr val="12587B"/>
          </a:solidFill>
          <a:ln/>
        </p:spPr>
      </p:sp>
      <p:sp>
        <p:nvSpPr>
          <p:cNvPr id="48" name="Text 37"/>
          <p:cNvSpPr/>
          <p:nvPr/>
        </p:nvSpPr>
        <p:spPr>
          <a:xfrm>
            <a:off x="7653528" y="3026664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38"/>
          <p:cNvSpPr/>
          <p:nvPr/>
        </p:nvSpPr>
        <p:spPr>
          <a:xfrm>
            <a:off x="7955280" y="30266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Work</a:t>
            </a:r>
            <a:endParaRPr lang="en-US" sz="1030" dirty="0"/>
          </a:p>
        </p:txBody>
      </p:sp>
      <p:pic>
        <p:nvPicPr>
          <p:cNvPr id="50" name="Image 9" descr="icons/arrowdow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0" y="3410712"/>
            <a:ext cx="164592" cy="164592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7589520" y="3511296"/>
            <a:ext cx="3429000" cy="402336"/>
          </a:xfrm>
          <a:prstGeom prst="roundRect">
            <a:avLst>
              <a:gd name="adj" fmla="val 56818"/>
            </a:avLst>
          </a:prstGeom>
          <a:solidFill>
            <a:srgbClr val="12587B"/>
          </a:solidFill>
          <a:ln/>
        </p:spPr>
      </p:sp>
      <p:sp>
        <p:nvSpPr>
          <p:cNvPr id="52" name="Text 40"/>
          <p:cNvSpPr/>
          <p:nvPr/>
        </p:nvSpPr>
        <p:spPr>
          <a:xfrm>
            <a:off x="7653528" y="3511296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Text 41"/>
          <p:cNvSpPr/>
          <p:nvPr/>
        </p:nvSpPr>
        <p:spPr>
          <a:xfrm>
            <a:off x="7955280" y="351129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</a:t>
            </a:r>
            <a:endParaRPr lang="en-US" sz="1030" dirty="0"/>
          </a:p>
        </p:txBody>
      </p:sp>
      <p:pic>
        <p:nvPicPr>
          <p:cNvPr id="54" name="Image 10" descr="icons/arrowdow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0" y="3895344"/>
            <a:ext cx="164592" cy="164592"/>
          </a:xfrm>
          <a:prstGeom prst="rect">
            <a:avLst/>
          </a:prstGeom>
        </p:spPr>
      </p:pic>
      <p:sp>
        <p:nvSpPr>
          <p:cNvPr id="55" name="Shape 42"/>
          <p:cNvSpPr/>
          <p:nvPr/>
        </p:nvSpPr>
        <p:spPr>
          <a:xfrm>
            <a:off x="7589520" y="3995928"/>
            <a:ext cx="3429000" cy="402336"/>
          </a:xfrm>
          <a:prstGeom prst="roundRect">
            <a:avLst>
              <a:gd name="adj" fmla="val 56818"/>
            </a:avLst>
          </a:prstGeom>
          <a:solidFill>
            <a:srgbClr val="12587B"/>
          </a:solidFill>
          <a:ln/>
        </p:spPr>
      </p:sp>
      <p:sp>
        <p:nvSpPr>
          <p:cNvPr id="56" name="Text 43"/>
          <p:cNvSpPr/>
          <p:nvPr/>
        </p:nvSpPr>
        <p:spPr>
          <a:xfrm>
            <a:off x="7653528" y="3995928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7" name="Text 44"/>
          <p:cNvSpPr/>
          <p:nvPr/>
        </p:nvSpPr>
        <p:spPr>
          <a:xfrm>
            <a:off x="7955280" y="39959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Resolved</a:t>
            </a:r>
            <a:endParaRPr lang="en-US" sz="1030" dirty="0"/>
          </a:p>
        </p:txBody>
      </p:sp>
      <p:pic>
        <p:nvPicPr>
          <p:cNvPr id="58" name="Image 11" descr="icons/arrowdow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0" y="4379976"/>
            <a:ext cx="164592" cy="164592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7589520" y="4480560"/>
            <a:ext cx="3429000" cy="402336"/>
          </a:xfrm>
          <a:prstGeom prst="roundRect">
            <a:avLst>
              <a:gd name="adj" fmla="val 56818"/>
            </a:avLst>
          </a:prstGeom>
          <a:solidFill>
            <a:srgbClr val="1FA97C"/>
          </a:solidFill>
          <a:ln/>
        </p:spPr>
      </p:sp>
      <p:sp>
        <p:nvSpPr>
          <p:cNvPr id="60" name="Text 46"/>
          <p:cNvSpPr/>
          <p:nvPr/>
        </p:nvSpPr>
        <p:spPr>
          <a:xfrm>
            <a:off x="7653528" y="448056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1" name="Text 47"/>
          <p:cNvSpPr/>
          <p:nvPr/>
        </p:nvSpPr>
        <p:spPr>
          <a:xfrm>
            <a:off x="7955280" y="44805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</a:t>
            </a:r>
            <a:endParaRPr lang="en-US" sz="1030" dirty="0"/>
          </a:p>
        </p:txBody>
      </p:sp>
      <p:sp>
        <p:nvSpPr>
          <p:cNvPr id="62" name="Shape 48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2805C"/>
          </a:solidFill>
          <a:ln/>
        </p:spPr>
      </p:sp>
      <p:pic>
        <p:nvPicPr>
          <p:cNvPr id="63" name="Image 12" descr="icons/databas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6053328"/>
            <a:ext cx="347472" cy="347472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1188720" y="59436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Complaints, Categories, Departments, Notifications, Feedback &amp; Reports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implementation timeline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331720" y="1271016"/>
            <a:ext cx="1160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91865" y="1271016"/>
            <a:ext cx="1160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52010" y="1271016"/>
            <a:ext cx="1160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12155" y="1271016"/>
            <a:ext cx="1160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72300" y="1271016"/>
            <a:ext cx="1160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2445" y="1271016"/>
            <a:ext cx="1160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292590" y="1271016"/>
            <a:ext cx="1160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452735" y="1271016"/>
            <a:ext cx="11601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1527048"/>
            <a:ext cx="0" cy="3986784"/>
          </a:xfrm>
          <a:prstGeom prst="line">
            <a:avLst/>
          </a:prstGeom>
          <a:noFill/>
          <a:ln w="9525">
            <a:solidFill>
              <a:srgbClr val="1C5C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91865" y="1527048"/>
            <a:ext cx="0" cy="3986784"/>
          </a:xfrm>
          <a:prstGeom prst="line">
            <a:avLst/>
          </a:prstGeom>
          <a:noFill/>
          <a:ln w="9525">
            <a:solidFill>
              <a:srgbClr val="1C5C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52010" y="1527048"/>
            <a:ext cx="0" cy="3986784"/>
          </a:xfrm>
          <a:prstGeom prst="line">
            <a:avLst/>
          </a:prstGeom>
          <a:noFill/>
          <a:ln w="9525">
            <a:solidFill>
              <a:srgbClr val="1C5C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2155" y="1527048"/>
            <a:ext cx="0" cy="3986784"/>
          </a:xfrm>
          <a:prstGeom prst="line">
            <a:avLst/>
          </a:prstGeom>
          <a:noFill/>
          <a:ln w="9525">
            <a:solidFill>
              <a:srgbClr val="1C5C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72300" y="1527048"/>
            <a:ext cx="0" cy="3986784"/>
          </a:xfrm>
          <a:prstGeom prst="line">
            <a:avLst/>
          </a:prstGeom>
          <a:noFill/>
          <a:ln w="9525">
            <a:solidFill>
              <a:srgbClr val="1C5C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2445" y="1527048"/>
            <a:ext cx="0" cy="3986784"/>
          </a:xfrm>
          <a:prstGeom prst="line">
            <a:avLst/>
          </a:prstGeom>
          <a:noFill/>
          <a:ln w="9525">
            <a:solidFill>
              <a:srgbClr val="1C5C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92590" y="1527048"/>
            <a:ext cx="0" cy="3986784"/>
          </a:xfrm>
          <a:prstGeom prst="line">
            <a:avLst/>
          </a:prstGeom>
          <a:noFill/>
          <a:ln w="9525">
            <a:solidFill>
              <a:srgbClr val="1C5C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52735" y="1527048"/>
            <a:ext cx="0" cy="3986784"/>
          </a:xfrm>
          <a:prstGeom prst="line">
            <a:avLst/>
          </a:prstGeom>
          <a:noFill/>
          <a:ln w="9525">
            <a:solidFill>
              <a:srgbClr val="1C5C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12880" y="1527048"/>
            <a:ext cx="0" cy="3986784"/>
          </a:xfrm>
          <a:prstGeom prst="line">
            <a:avLst/>
          </a:prstGeom>
          <a:noFill/>
          <a:ln w="9525">
            <a:solidFill>
              <a:srgbClr val="1C5C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600200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74520" y="1600200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2368296" y="1673352"/>
            <a:ext cx="1086993" cy="283464"/>
          </a:xfrm>
          <a:prstGeom prst="roundRect">
            <a:avLst>
              <a:gd name="adj" fmla="val 19355"/>
            </a:avLst>
          </a:prstGeom>
          <a:solidFill>
            <a:srgbClr val="1FA97C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084832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74520" y="2084832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(ER Diagram &amp; Tables)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3528441" y="2157984"/>
            <a:ext cx="1086993" cy="283464"/>
          </a:xfrm>
          <a:prstGeom prst="roundRect">
            <a:avLst>
              <a:gd name="adj" fmla="val 19355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569464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874520" y="2569464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688586" y="2642616"/>
            <a:ext cx="1086993" cy="283464"/>
          </a:xfrm>
          <a:prstGeom prst="roundRect">
            <a:avLst>
              <a:gd name="adj" fmla="val 19355"/>
            </a:avLst>
          </a:prstGeom>
          <a:solidFill>
            <a:srgbClr val="1FA97C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054096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874520" y="3054096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5848731" y="3127248"/>
            <a:ext cx="1086993" cy="283464"/>
          </a:xfrm>
          <a:prstGeom prst="roundRect">
            <a:avLst>
              <a:gd name="adj" fmla="val 19355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538728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874520" y="3538728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7008876" y="3611880"/>
            <a:ext cx="1086993" cy="283464"/>
          </a:xfrm>
          <a:prstGeom prst="roundRect">
            <a:avLst>
              <a:gd name="adj" fmla="val 19355"/>
            </a:avLst>
          </a:prstGeom>
          <a:solidFill>
            <a:srgbClr val="1FA97C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023360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874520" y="4023360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8169021" y="4096512"/>
            <a:ext cx="1086993" cy="283464"/>
          </a:xfrm>
          <a:prstGeom prst="roundRect">
            <a:avLst>
              <a:gd name="adj" fmla="val 19355"/>
            </a:avLst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4507992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874520" y="4507992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Bug Fixing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9329166" y="4581144"/>
            <a:ext cx="1086993" cy="283464"/>
          </a:xfrm>
          <a:prstGeom prst="roundRect">
            <a:avLst>
              <a:gd name="adj" fmla="val 19355"/>
            </a:avLst>
          </a:prstGeom>
          <a:solidFill>
            <a:srgbClr val="1FA97C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992624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874520" y="4992624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Final Presentation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10489311" y="5065776"/>
            <a:ext cx="1086993" cy="283464"/>
          </a:xfrm>
          <a:prstGeom prst="roundRect">
            <a:avLst>
              <a:gd name="adj" fmla="val 19355"/>
            </a:avLst>
          </a:prstGeom>
          <a:solidFill>
            <a:srgbClr val="1FA97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Maintenance &amp; Complaint Management System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529</Words>
  <Application>Microsoft Office PowerPoint</Application>
  <PresentationFormat>Widescreen</PresentationFormat>
  <Paragraphs>180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Niteeksha Inuganti</cp:lastModifiedBy>
  <cp:revision>2</cp:revision>
  <dcterms:created xsi:type="dcterms:W3CDTF">2026-08-03T14:59:19Z</dcterms:created>
  <dcterms:modified xsi:type="dcterms:W3CDTF">2026-08-03T16:21:35Z</dcterms:modified>
</cp:coreProperties>
</file>